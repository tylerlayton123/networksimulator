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63" r:id="rId2"/>
  </p:sldIdLst>
  <p:sldSz cx="32918400" cy="21945600"/>
  <p:notesSz cx="31954788" cy="50149125"/>
  <p:embeddedFontLst>
    <p:embeddedFont>
      <p:font typeface="Libre Baskerville" panose="02000000000000000000" pitchFamily="2" charset="0"/>
      <p:regular r:id="rId5"/>
      <p:bold r:id="rId6"/>
      <p:italic r:id="rId7"/>
    </p:embeddedFont>
    <p:embeddedFont>
      <p:font typeface="Montserrat Light" panose="00000400000000000000" pitchFamily="2" charset="0"/>
      <p:regular r:id="rId8"/>
      <p:italic r:id="rId9"/>
    </p:embeddedFont>
  </p:embeddedFontLst>
  <p:custDataLst>
    <p:tags r:id="rId10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714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326532" algn="l" rtl="0" eaLnBrk="0" fontAlgn="base" hangingPunct="0">
      <a:spcBef>
        <a:spcPct val="0"/>
      </a:spcBef>
      <a:spcAft>
        <a:spcPct val="0"/>
      </a:spcAft>
      <a:defRPr sz="1714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653064" algn="l" rtl="0" eaLnBrk="0" fontAlgn="base" hangingPunct="0">
      <a:spcBef>
        <a:spcPct val="0"/>
      </a:spcBef>
      <a:spcAft>
        <a:spcPct val="0"/>
      </a:spcAft>
      <a:defRPr sz="1714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979597" algn="l" rtl="0" eaLnBrk="0" fontAlgn="base" hangingPunct="0">
      <a:spcBef>
        <a:spcPct val="0"/>
      </a:spcBef>
      <a:spcAft>
        <a:spcPct val="0"/>
      </a:spcAft>
      <a:defRPr sz="1714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306129" algn="l" rtl="0" eaLnBrk="0" fontAlgn="base" hangingPunct="0">
      <a:spcBef>
        <a:spcPct val="0"/>
      </a:spcBef>
      <a:spcAft>
        <a:spcPct val="0"/>
      </a:spcAft>
      <a:defRPr sz="1714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1632661" algn="l" defTabSz="653064" rtl="0" eaLnBrk="1" latinLnBrk="0" hangingPunct="1">
      <a:defRPr sz="1714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1959193" algn="l" defTabSz="653064" rtl="0" eaLnBrk="1" latinLnBrk="0" hangingPunct="1">
      <a:defRPr sz="1714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2285726" algn="l" defTabSz="653064" rtl="0" eaLnBrk="1" latinLnBrk="0" hangingPunct="1">
      <a:defRPr sz="1714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2612258" algn="l" defTabSz="653064" rtl="0" eaLnBrk="1" latinLnBrk="0" hangingPunct="1">
      <a:defRPr sz="1714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312" userDrawn="1">
          <p15:clr>
            <a:srgbClr val="A4A3A4"/>
          </p15:clr>
        </p15:guide>
        <p15:guide id="2" orient="horz" pos="3755" userDrawn="1">
          <p15:clr>
            <a:srgbClr val="A4A3A4"/>
          </p15:clr>
        </p15:guide>
        <p15:guide id="3" orient="horz" pos="2355" userDrawn="1">
          <p15:clr>
            <a:srgbClr val="A4A3A4"/>
          </p15:clr>
        </p15:guide>
        <p15:guide id="4" orient="horz" pos="4164" userDrawn="1">
          <p15:clr>
            <a:srgbClr val="A4A3A4"/>
          </p15:clr>
        </p15:guide>
        <p15:guide id="5" pos="540" userDrawn="1">
          <p15:clr>
            <a:srgbClr val="A4A3A4"/>
          </p15:clr>
        </p15:guide>
        <p15:guide id="6" pos="5184" userDrawn="1">
          <p15:clr>
            <a:srgbClr val="A4A3A4"/>
          </p15:clr>
        </p15:guide>
        <p15:guide id="7" pos="5544" userDrawn="1">
          <p15:clr>
            <a:srgbClr val="A4A3A4"/>
          </p15:clr>
        </p15:guide>
        <p15:guide id="8" pos="10188" userDrawn="1">
          <p15:clr>
            <a:srgbClr val="A4A3A4"/>
          </p15:clr>
        </p15:guide>
        <p15:guide id="9" pos="10548" userDrawn="1">
          <p15:clr>
            <a:srgbClr val="A4A3A4"/>
          </p15:clr>
        </p15:guide>
        <p15:guide id="10" pos="15192" userDrawn="1">
          <p15:clr>
            <a:srgbClr val="A4A3A4"/>
          </p15:clr>
        </p15:guide>
        <p15:guide id="11" pos="15552" userDrawn="1">
          <p15:clr>
            <a:srgbClr val="A4A3A4"/>
          </p15:clr>
        </p15:guide>
        <p15:guide id="12" pos="2019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15795">
          <p15:clr>
            <a:srgbClr val="A4A3A4"/>
          </p15:clr>
        </p15:guide>
        <p15:guide id="2" pos="1006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 autoAdjust="0"/>
    <p:restoredTop sz="94660" autoAdjust="0"/>
  </p:normalViewPr>
  <p:slideViewPr>
    <p:cSldViewPr>
      <p:cViewPr>
        <p:scale>
          <a:sx n="90" d="100"/>
          <a:sy n="90" d="100"/>
        </p:scale>
        <p:origin x="-7219" y="-4834"/>
      </p:cViewPr>
      <p:guideLst>
        <p:guide orient="horz" pos="13312"/>
        <p:guide orient="horz" pos="3755"/>
        <p:guide orient="horz" pos="2355"/>
        <p:guide orient="horz" pos="4164"/>
        <p:guide pos="540"/>
        <p:guide pos="5184"/>
        <p:guide pos="5544"/>
        <p:guide pos="10188"/>
        <p:guide pos="10548"/>
        <p:guide pos="15192"/>
        <p:guide pos="15552"/>
        <p:guide pos="2019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 varScale="1">
        <p:scale>
          <a:sx n="17" d="100"/>
          <a:sy n="17" d="100"/>
        </p:scale>
        <p:origin x="4416" y="178"/>
      </p:cViewPr>
      <p:guideLst>
        <p:guide orient="horz" pos="15795"/>
        <p:guide pos="1006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3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presProps" Target="presProps.xml"/><Relationship Id="rId5" Type="http://schemas.openxmlformats.org/officeDocument/2006/relationships/font" Target="fonts/font1.fntdata"/><Relationship Id="rId15" Type="http://schemas.microsoft.com/office/2016/11/relationships/changesInfo" Target="changesInfos/changesInfo1.xml"/><Relationship Id="rId10" Type="http://schemas.openxmlformats.org/officeDocument/2006/relationships/tags" Target="tags/tag1.xml"/><Relationship Id="rId4" Type="http://schemas.openxmlformats.org/officeDocument/2006/relationships/handoutMaster" Target="handoutMasters/handoutMaster1.xml"/><Relationship Id="rId9" Type="http://schemas.openxmlformats.org/officeDocument/2006/relationships/font" Target="fonts/font5.fntdata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yler Layton" userId="8d324023210f7188" providerId="LiveId" clId="{847CFEAB-353D-4800-9CAD-A8E0B8EF7A1E}"/>
    <pc:docChg chg="custSel modSld">
      <pc:chgData name="Tyler Layton" userId="8d324023210f7188" providerId="LiveId" clId="{847CFEAB-353D-4800-9CAD-A8E0B8EF7A1E}" dt="2026-04-18T18:48:16.471" v="218" actId="20577"/>
      <pc:docMkLst>
        <pc:docMk/>
      </pc:docMkLst>
      <pc:sldChg chg="modSp mod">
        <pc:chgData name="Tyler Layton" userId="8d324023210f7188" providerId="LiveId" clId="{847CFEAB-353D-4800-9CAD-A8E0B8EF7A1E}" dt="2026-04-18T18:48:16.471" v="218" actId="20577"/>
        <pc:sldMkLst>
          <pc:docMk/>
          <pc:sldMk cId="0" sldId="263"/>
        </pc:sldMkLst>
        <pc:spChg chg="mod">
          <ac:chgData name="Tyler Layton" userId="8d324023210f7188" providerId="LiveId" clId="{847CFEAB-353D-4800-9CAD-A8E0B8EF7A1E}" dt="2026-04-18T18:48:16.471" v="218" actId="20577"/>
          <ac:spMkLst>
            <pc:docMk/>
            <pc:sldMk cId="0" sldId="263"/>
            <ac:spMk id="41" creationId="{8785E597-B0C8-4CA8-9A56-A0F3996D088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3804900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0028" tIns="225014" rIns="450028" bIns="225014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defTabSz="4508500">
              <a:defRPr sz="600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17941925" y="0"/>
            <a:ext cx="14135100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0028" tIns="225014" rIns="450028" bIns="225014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r" defTabSz="4508500">
              <a:defRPr sz="600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47639288"/>
            <a:ext cx="13804900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0028" tIns="225014" rIns="450028" bIns="225014" anchor="b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defTabSz="4508500">
              <a:defRPr sz="600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17941925" y="47639288"/>
            <a:ext cx="14135100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0028" tIns="225014" rIns="450028" bIns="225014" anchor="b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r" defTabSz="4508500">
              <a:defRPr sz="6000"/>
            </a:lvl1pPr>
          </a:lstStyle>
          <a:p>
            <a:pPr>
              <a:defRPr/>
            </a:pPr>
            <a:fld id="{440C443C-8022-4F5D-8F2E-5133654FC91D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7928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3804900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0028" tIns="225014" rIns="450028" bIns="225014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defTabSz="4508500">
              <a:defRPr sz="600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17941925" y="0"/>
            <a:ext cx="14135100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0028" tIns="225014" rIns="450028" bIns="225014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r" defTabSz="4508500">
              <a:defRPr sz="600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816100" y="3757613"/>
            <a:ext cx="28120975" cy="187483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4137025" y="24004588"/>
            <a:ext cx="23456900" cy="2251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0028" tIns="225014" rIns="450028" bIns="225014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</a:lstStyle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  <a:p>
            <a:pPr lvl="3"/>
            <a:r>
              <a:rPr lang="en-AU" noProof="0"/>
              <a:t>Fourth level</a:t>
            </a:r>
          </a:p>
          <a:p>
            <a:pPr lvl="4"/>
            <a:r>
              <a:rPr lang="en-AU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47639288"/>
            <a:ext cx="13804900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0028" tIns="225014" rIns="450028" bIns="225014" anchor="b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defTabSz="4508500">
              <a:defRPr sz="600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7941925" y="47639288"/>
            <a:ext cx="14135100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0028" tIns="225014" rIns="450028" bIns="225014" anchor="b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r" defTabSz="4508500">
              <a:defRPr sz="6000"/>
            </a:lvl1pPr>
          </a:lstStyle>
          <a:p>
            <a:pPr>
              <a:defRPr/>
            </a:pPr>
            <a:fld id="{42207482-9F38-4AF6-9B91-768DCEDA59AC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079937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857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326532" algn="l" rtl="0" eaLnBrk="0" fontAlgn="base" hangingPunct="0">
      <a:spcBef>
        <a:spcPct val="30000"/>
      </a:spcBef>
      <a:spcAft>
        <a:spcPct val="0"/>
      </a:spcAft>
      <a:defRPr sz="857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653064" algn="l" rtl="0" eaLnBrk="0" fontAlgn="base" hangingPunct="0">
      <a:spcBef>
        <a:spcPct val="30000"/>
      </a:spcBef>
      <a:spcAft>
        <a:spcPct val="0"/>
      </a:spcAft>
      <a:defRPr sz="857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979597" algn="l" rtl="0" eaLnBrk="0" fontAlgn="base" hangingPunct="0">
      <a:spcBef>
        <a:spcPct val="30000"/>
      </a:spcBef>
      <a:spcAft>
        <a:spcPct val="0"/>
      </a:spcAft>
      <a:defRPr sz="857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306129" algn="l" rtl="0" eaLnBrk="0" fontAlgn="base" hangingPunct="0">
      <a:spcBef>
        <a:spcPct val="30000"/>
      </a:spcBef>
      <a:spcAft>
        <a:spcPct val="0"/>
      </a:spcAft>
      <a:defRPr sz="857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1632661" algn="l" defTabSz="653064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6pPr>
    <a:lvl7pPr marL="1959193" algn="l" defTabSz="653064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7pPr>
    <a:lvl8pPr marL="2285726" algn="l" defTabSz="653064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8pPr>
    <a:lvl9pPr marL="2612258" algn="l" defTabSz="653064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defPPr>
              <a:defRPr kern="1200"/>
            </a:defPPr>
            <a:lvl1pPr defTabSz="45085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45085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45085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45085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45085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45085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45085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45085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45085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842B0325-ACC9-488E-8876-C4E9E3B68AD8}" type="slidenum">
              <a:rPr lang="en-AU" sz="6000" smtClean="0"/>
              <a:t>1</a:t>
            </a:fld>
            <a:endParaRPr lang="en-AU" sz="6000"/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816100" y="3757613"/>
            <a:ext cx="28120975" cy="18748375"/>
          </a:xfrm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>
            <a:defPPr>
              <a:defRPr kern="1200"/>
            </a:defPPr>
          </a:lstStyle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9093" y="6817784"/>
            <a:ext cx="27980218" cy="4703233"/>
          </a:xfrm>
        </p:spPr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38184" y="12435417"/>
            <a:ext cx="23042032" cy="5609167"/>
          </a:xfrm>
        </p:spPr>
        <p:txBody>
          <a:bodyPr/>
          <a:lstStyle>
            <a:defPPr>
              <a:defRPr kern="1200"/>
            </a:defPPr>
            <a:lvl1pPr marL="0" indent="0" algn="ctr">
              <a:buNone/>
              <a:defRPr/>
            </a:lvl1pPr>
            <a:lvl2pPr marL="304815" indent="0" algn="ctr">
              <a:buNone/>
              <a:defRPr/>
            </a:lvl2pPr>
            <a:lvl3pPr marL="609630" indent="0" algn="ctr">
              <a:buNone/>
              <a:defRPr/>
            </a:lvl3pPr>
            <a:lvl4pPr marL="914446" indent="0" algn="ctr">
              <a:buNone/>
              <a:defRPr/>
            </a:lvl4pPr>
            <a:lvl5pPr marL="1219261" indent="0" algn="ctr">
              <a:buNone/>
              <a:defRPr/>
            </a:lvl5pPr>
            <a:lvl6pPr marL="1524076" indent="0" algn="ctr">
              <a:buNone/>
              <a:defRPr/>
            </a:lvl6pPr>
            <a:lvl7pPr marL="1828891" indent="0" algn="ctr">
              <a:buNone/>
              <a:defRPr/>
            </a:lvl7pPr>
            <a:lvl8pPr marL="2133707" indent="0" algn="ctr">
              <a:buNone/>
              <a:defRPr/>
            </a:lvl8pPr>
            <a:lvl9pPr marL="2438522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0DA66E67-F948-4693-96A5-27BC239C04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922583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0EC1B4D6-BEE2-4AF6-A92E-38CD68913D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762665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0326" y="14102293"/>
            <a:ext cx="27980218" cy="4358217"/>
          </a:xfrm>
        </p:spPr>
        <p:txBody>
          <a:bodyPr anchor="t"/>
          <a:lstStyle>
            <a:defPPr>
              <a:defRPr kern="1200"/>
            </a:defPPr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0326" y="9301692"/>
            <a:ext cx="27980218" cy="4800600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1333"/>
            </a:lvl1pPr>
            <a:lvl2pPr marL="304815" indent="0">
              <a:buNone/>
              <a:defRPr sz="1200"/>
            </a:lvl2pPr>
            <a:lvl3pPr marL="609630" indent="0">
              <a:buNone/>
              <a:defRPr sz="1067"/>
            </a:lvl3pPr>
            <a:lvl4pPr marL="914446" indent="0">
              <a:buNone/>
              <a:defRPr sz="933"/>
            </a:lvl4pPr>
            <a:lvl5pPr marL="1219261" indent="0">
              <a:buNone/>
              <a:defRPr sz="933"/>
            </a:lvl5pPr>
            <a:lvl6pPr marL="1524076" indent="0">
              <a:buNone/>
              <a:defRPr sz="933"/>
            </a:lvl6pPr>
            <a:lvl7pPr marL="1828891" indent="0">
              <a:buNone/>
              <a:defRPr sz="933"/>
            </a:lvl7pPr>
            <a:lvl8pPr marL="2133707" indent="0">
              <a:buNone/>
              <a:defRPr sz="933"/>
            </a:lvl8pPr>
            <a:lvl9pPr marL="2438522" indent="0">
              <a:buNone/>
              <a:defRPr sz="9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D8650354-6837-43DB-843B-C6021BD2EF3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638210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0151" y="6339418"/>
            <a:ext cx="13938248" cy="13167782"/>
          </a:xfrm>
        </p:spPr>
        <p:txBody>
          <a:bodyPr/>
          <a:lstStyle>
            <a:defPPr>
              <a:defRPr kern="1200"/>
            </a:defPPr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510002" y="6339418"/>
            <a:ext cx="13938248" cy="13167782"/>
          </a:xfrm>
        </p:spPr>
        <p:txBody>
          <a:bodyPr/>
          <a:lstStyle>
            <a:defPPr>
              <a:defRPr kern="1200"/>
            </a:defPPr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4296FF25-ADB1-4315-9622-9852994CD1E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309162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710" y="878417"/>
            <a:ext cx="29626982" cy="3657600"/>
          </a:xfrm>
        </p:spPr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709" y="4912784"/>
            <a:ext cx="14544675" cy="2046817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5709" y="6959600"/>
            <a:ext cx="14544675" cy="12643908"/>
          </a:xfrm>
        </p:spPr>
        <p:txBody>
          <a:bodyPr/>
          <a:lstStyle>
            <a:defPPr>
              <a:defRPr kern="1200"/>
            </a:defPPr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721666" y="4912784"/>
            <a:ext cx="14551027" cy="2046817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721666" y="6959600"/>
            <a:ext cx="14551027" cy="12643908"/>
          </a:xfrm>
        </p:spPr>
        <p:txBody>
          <a:bodyPr/>
          <a:lstStyle>
            <a:defPPr>
              <a:defRPr kern="1200"/>
            </a:defPPr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72EF82B1-171C-4CAC-B9C4-22062286C8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223922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678F620B-8934-45A0-BE2C-EF6C76032C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386339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A3ECE3F5-A3DD-46D3-8112-19EE7FD1DD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425270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709" y="874184"/>
            <a:ext cx="10829925" cy="3717925"/>
          </a:xfrm>
        </p:spPr>
        <p:txBody>
          <a:bodyPr anchor="b"/>
          <a:lstStyle>
            <a:defPPr>
              <a:defRPr kern="1200"/>
            </a:defPPr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392" y="874184"/>
            <a:ext cx="18402300" cy="18729325"/>
          </a:xfrm>
        </p:spPr>
        <p:txBody>
          <a:bodyPr/>
          <a:lstStyle>
            <a:defPPr>
              <a:defRPr kern="1200"/>
            </a:defPPr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709" y="4592109"/>
            <a:ext cx="10829925" cy="15011400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96691E56-DA67-4BF5-BA67-706F30B370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895616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2659" y="15361710"/>
            <a:ext cx="19750618" cy="1813983"/>
          </a:xfrm>
        </p:spPr>
        <p:txBody>
          <a:bodyPr anchor="b"/>
          <a:lstStyle>
            <a:defPPr>
              <a:defRPr kern="1200"/>
            </a:defPPr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452659" y="1961092"/>
            <a:ext cx="19750618" cy="13166725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2659" y="17175693"/>
            <a:ext cx="19750618" cy="2574925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87F51DAE-E528-43E1-8BE0-91521416EF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294852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2DA27A25-0059-41B6-A6E5-54D93C1080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187469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453727" y="1950509"/>
            <a:ext cx="6994525" cy="17556693"/>
          </a:xfrm>
        </p:spPr>
        <p:txBody>
          <a:bodyPr vert="eaVert"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0151" y="1950509"/>
            <a:ext cx="20881977" cy="17556693"/>
          </a:xfrm>
        </p:spPr>
        <p:txBody>
          <a:bodyPr vert="eaVert"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043B26BC-A2E6-4CDA-9F76-12293F2660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18540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0094B3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70548" y="1950509"/>
            <a:ext cx="27977306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26714" tIns="213357" rIns="426714" bIns="213357" anchor="ctr" anchorCtr="0" compatLnSpc="1">
            <a:prstTxWarp prst="textNoShape">
              <a:avLst/>
            </a:prstTxWarp>
          </a:bodyPr>
          <a:lstStyle>
            <a:defPPr>
              <a:defRPr kern="1200"/>
            </a:def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470548" y="6339417"/>
            <a:ext cx="27977306" cy="13167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26714" tIns="213357" rIns="426714" bIns="213357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470547" y="19995093"/>
            <a:ext cx="6858000" cy="1462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26714" tIns="213357" rIns="426714" bIns="213357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defTabSz="2844942">
              <a:defRPr sz="4334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1245454" y="19995093"/>
            <a:ext cx="10427494" cy="1462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26714" tIns="213357" rIns="426714" bIns="213357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ctr" defTabSz="2844942">
              <a:defRPr sz="4334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3589855" y="19995093"/>
            <a:ext cx="6858000" cy="1462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26714" tIns="213357" rIns="426714" bIns="213357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r" defTabSz="2844942">
              <a:defRPr sz="4334"/>
            </a:lvl1pPr>
          </a:lstStyle>
          <a:p>
            <a:pPr>
              <a:defRPr/>
            </a:pPr>
            <a:fld id="{469A0CB4-D18D-4AEF-B324-9EDF067D13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031" name="New picture"/>
          <p:cNvPicPr/>
          <p:nvPr/>
        </p:nvPicPr>
        <p:blipFill>
          <a:blip r:embed="rId13"/>
          <a:stretch>
            <a:fillRect/>
          </a:stretch>
        </p:blipFill>
        <p:spPr>
          <a:xfrm rot="16200000">
            <a:off x="-11074400" y="10972800"/>
            <a:ext cx="14274800" cy="3937000"/>
          </a:xfrm>
          <a:prstGeom prst="rect">
            <a:avLst/>
          </a:prstGeom>
        </p:spPr>
      </p:pic>
      <p:pic>
        <p:nvPicPr>
          <p:cNvPr id="1032" name="New picture"/>
          <p:cNvPicPr/>
          <p:nvPr/>
        </p:nvPicPr>
        <p:blipFill>
          <a:blip r:embed="rId13"/>
          <a:stretch>
            <a:fillRect/>
          </a:stretch>
        </p:blipFill>
        <p:spPr>
          <a:xfrm rot="5400000">
            <a:off x="29718000" y="10972800"/>
            <a:ext cx="14274800" cy="3937000"/>
          </a:xfrm>
          <a:prstGeom prst="rect">
            <a:avLst/>
          </a:prstGeom>
        </p:spPr>
      </p:pic>
      <p:pic>
        <p:nvPicPr>
          <p:cNvPr id="1033" name="New picture"/>
          <p:cNvPicPr/>
          <p:nvPr/>
        </p:nvPicPr>
        <p:blipFill>
          <a:blip r:embed="rId14"/>
          <a:stretch>
            <a:fillRect/>
          </a:stretch>
        </p:blipFill>
        <p:spPr>
          <a:xfrm>
            <a:off x="1460500" y="22453600"/>
            <a:ext cx="29997400" cy="1447800"/>
          </a:xfrm>
          <a:prstGeom prst="rect">
            <a:avLst/>
          </a:prstGeom>
        </p:spPr>
      </p:pic>
      <p:sp>
        <p:nvSpPr>
          <p:cNvPr id="1034" name="New shape"/>
          <p:cNvSpPr/>
          <p:nvPr/>
        </p:nvSpPr>
        <p:spPr>
          <a:xfrm>
            <a:off x="1460500" y="23025100"/>
            <a:ext cx="16459200" cy="127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4560">
                <a:solidFill>
                  <a:srgbClr val="808080"/>
                </a:solidFill>
              </a:rPr>
              <a:t>Template ID: persuadingsapphire  Size: 36x24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defPPr>
        <a:defRPr kern="1200"/>
      </a:defPPr>
      <a:lvl1pPr algn="ctr" defTabSz="2844942" rtl="0" eaLnBrk="0" fontAlgn="base" hangingPunct="0">
        <a:spcBef>
          <a:spcPct val="0"/>
        </a:spcBef>
        <a:spcAft>
          <a:spcPct val="0"/>
        </a:spcAft>
        <a:defRPr sz="13667">
          <a:solidFill>
            <a:schemeClr val="tx2"/>
          </a:solidFill>
          <a:latin typeface="+mj-lt"/>
          <a:ea typeface="+mj-ea"/>
          <a:cs typeface="+mj-cs"/>
        </a:defRPr>
      </a:lvl1pPr>
      <a:lvl2pPr algn="ctr" defTabSz="2844942" rtl="0" eaLnBrk="0" fontAlgn="base" hangingPunct="0">
        <a:spcBef>
          <a:spcPct val="0"/>
        </a:spcBef>
        <a:spcAft>
          <a:spcPct val="0"/>
        </a:spcAft>
        <a:defRPr sz="13667">
          <a:solidFill>
            <a:schemeClr val="tx2"/>
          </a:solidFill>
          <a:latin typeface="Times New Roman" pitchFamily="18" charset="0"/>
        </a:defRPr>
      </a:lvl2pPr>
      <a:lvl3pPr algn="ctr" defTabSz="2844942" rtl="0" eaLnBrk="0" fontAlgn="base" hangingPunct="0">
        <a:spcBef>
          <a:spcPct val="0"/>
        </a:spcBef>
        <a:spcAft>
          <a:spcPct val="0"/>
        </a:spcAft>
        <a:defRPr sz="13667">
          <a:solidFill>
            <a:schemeClr val="tx2"/>
          </a:solidFill>
          <a:latin typeface="Times New Roman" pitchFamily="18" charset="0"/>
        </a:defRPr>
      </a:lvl3pPr>
      <a:lvl4pPr algn="ctr" defTabSz="2844942" rtl="0" eaLnBrk="0" fontAlgn="base" hangingPunct="0">
        <a:spcBef>
          <a:spcPct val="0"/>
        </a:spcBef>
        <a:spcAft>
          <a:spcPct val="0"/>
        </a:spcAft>
        <a:defRPr sz="13667">
          <a:solidFill>
            <a:schemeClr val="tx2"/>
          </a:solidFill>
          <a:latin typeface="Times New Roman" pitchFamily="18" charset="0"/>
        </a:defRPr>
      </a:lvl4pPr>
      <a:lvl5pPr algn="ctr" defTabSz="2844942" rtl="0" eaLnBrk="0" fontAlgn="base" hangingPunct="0">
        <a:spcBef>
          <a:spcPct val="0"/>
        </a:spcBef>
        <a:spcAft>
          <a:spcPct val="0"/>
        </a:spcAft>
        <a:defRPr sz="13667">
          <a:solidFill>
            <a:schemeClr val="tx2"/>
          </a:solidFill>
          <a:latin typeface="Times New Roman" pitchFamily="18" charset="0"/>
        </a:defRPr>
      </a:lvl5pPr>
      <a:lvl6pPr marL="304815" algn="ctr" defTabSz="2844942" rtl="0" eaLnBrk="0" fontAlgn="base" hangingPunct="0">
        <a:spcBef>
          <a:spcPct val="0"/>
        </a:spcBef>
        <a:spcAft>
          <a:spcPct val="0"/>
        </a:spcAft>
        <a:defRPr sz="13667">
          <a:solidFill>
            <a:schemeClr val="tx2"/>
          </a:solidFill>
          <a:latin typeface="Times New Roman" pitchFamily="18" charset="0"/>
        </a:defRPr>
      </a:lvl6pPr>
      <a:lvl7pPr marL="609630" algn="ctr" defTabSz="2844942" rtl="0" eaLnBrk="0" fontAlgn="base" hangingPunct="0">
        <a:spcBef>
          <a:spcPct val="0"/>
        </a:spcBef>
        <a:spcAft>
          <a:spcPct val="0"/>
        </a:spcAft>
        <a:defRPr sz="13667">
          <a:solidFill>
            <a:schemeClr val="tx2"/>
          </a:solidFill>
          <a:latin typeface="Times New Roman" pitchFamily="18" charset="0"/>
        </a:defRPr>
      </a:lvl7pPr>
      <a:lvl8pPr marL="914446" algn="ctr" defTabSz="2844942" rtl="0" eaLnBrk="0" fontAlgn="base" hangingPunct="0">
        <a:spcBef>
          <a:spcPct val="0"/>
        </a:spcBef>
        <a:spcAft>
          <a:spcPct val="0"/>
        </a:spcAft>
        <a:defRPr sz="13667">
          <a:solidFill>
            <a:schemeClr val="tx2"/>
          </a:solidFill>
          <a:latin typeface="Times New Roman" pitchFamily="18" charset="0"/>
        </a:defRPr>
      </a:lvl8pPr>
      <a:lvl9pPr marL="1219261" algn="ctr" defTabSz="2844942" rtl="0" eaLnBrk="0" fontAlgn="base" hangingPunct="0">
        <a:spcBef>
          <a:spcPct val="0"/>
        </a:spcBef>
        <a:spcAft>
          <a:spcPct val="0"/>
        </a:spcAft>
        <a:defRPr sz="13667">
          <a:solidFill>
            <a:schemeClr val="tx2"/>
          </a:solidFill>
          <a:latin typeface="Times New Roman" pitchFamily="18" charset="0"/>
        </a:defRPr>
      </a:lvl9pPr>
    </p:titleStyle>
    <p:bodyStyle>
      <a:defPPr>
        <a:defRPr kern="1200"/>
      </a:defPPr>
      <a:lvl1pPr marL="1066853" indent="-1066853" algn="l" defTabSz="2844942" rtl="0" eaLnBrk="0" fontAlgn="base" hangingPunct="0">
        <a:spcBef>
          <a:spcPct val="20000"/>
        </a:spcBef>
        <a:spcAft>
          <a:spcPct val="0"/>
        </a:spcAft>
        <a:buChar char="•"/>
        <a:defRPr sz="9934">
          <a:solidFill>
            <a:schemeClr val="tx1"/>
          </a:solidFill>
          <a:latin typeface="+mn-lt"/>
          <a:ea typeface="+mn-ea"/>
          <a:cs typeface="+mn-cs"/>
        </a:defRPr>
      </a:lvl1pPr>
      <a:lvl2pPr marL="2311516" indent="-889044" algn="l" defTabSz="2844942" rtl="0" eaLnBrk="0" fontAlgn="base" hangingPunct="0">
        <a:spcBef>
          <a:spcPct val="20000"/>
        </a:spcBef>
        <a:spcAft>
          <a:spcPct val="0"/>
        </a:spcAft>
        <a:buChar char="–"/>
        <a:defRPr sz="8734">
          <a:solidFill>
            <a:schemeClr val="tx1"/>
          </a:solidFill>
          <a:latin typeface="+mn-lt"/>
        </a:defRPr>
      </a:lvl2pPr>
      <a:lvl3pPr marL="3556178" indent="-711236" algn="l" defTabSz="2844942" rtl="0" eaLnBrk="0" fontAlgn="base" hangingPunct="0">
        <a:spcBef>
          <a:spcPct val="20000"/>
        </a:spcBef>
        <a:spcAft>
          <a:spcPct val="0"/>
        </a:spcAft>
        <a:buChar char="•"/>
        <a:defRPr sz="7467">
          <a:solidFill>
            <a:schemeClr val="tx1"/>
          </a:solidFill>
          <a:latin typeface="+mn-lt"/>
        </a:defRPr>
      </a:lvl3pPr>
      <a:lvl4pPr marL="4978649" indent="-711236" algn="l" defTabSz="2844942" rtl="0" eaLnBrk="0" fontAlgn="base" hangingPunct="0">
        <a:spcBef>
          <a:spcPct val="20000"/>
        </a:spcBef>
        <a:spcAft>
          <a:spcPct val="0"/>
        </a:spcAft>
        <a:buChar char="–"/>
        <a:defRPr sz="6200">
          <a:solidFill>
            <a:schemeClr val="tx1"/>
          </a:solidFill>
          <a:latin typeface="+mn-lt"/>
        </a:defRPr>
      </a:lvl4pPr>
      <a:lvl5pPr marL="6401120" indent="-711236" algn="l" defTabSz="2844942" rtl="0" eaLnBrk="0" fontAlgn="base" hangingPunct="0">
        <a:spcBef>
          <a:spcPct val="20000"/>
        </a:spcBef>
        <a:spcAft>
          <a:spcPct val="0"/>
        </a:spcAft>
        <a:buChar char="»"/>
        <a:defRPr sz="6200">
          <a:solidFill>
            <a:schemeClr val="tx1"/>
          </a:solidFill>
          <a:latin typeface="+mn-lt"/>
        </a:defRPr>
      </a:lvl5pPr>
      <a:lvl6pPr marL="6705935" indent="-711236" algn="l" defTabSz="2844942" rtl="0" eaLnBrk="0" fontAlgn="base" hangingPunct="0">
        <a:spcBef>
          <a:spcPct val="20000"/>
        </a:spcBef>
        <a:spcAft>
          <a:spcPct val="0"/>
        </a:spcAft>
        <a:buChar char="»"/>
        <a:defRPr sz="6200">
          <a:solidFill>
            <a:schemeClr val="tx1"/>
          </a:solidFill>
          <a:latin typeface="+mn-lt"/>
        </a:defRPr>
      </a:lvl6pPr>
      <a:lvl7pPr marL="7010751" indent="-711236" algn="l" defTabSz="2844942" rtl="0" eaLnBrk="0" fontAlgn="base" hangingPunct="0">
        <a:spcBef>
          <a:spcPct val="20000"/>
        </a:spcBef>
        <a:spcAft>
          <a:spcPct val="0"/>
        </a:spcAft>
        <a:buChar char="»"/>
        <a:defRPr sz="6200">
          <a:solidFill>
            <a:schemeClr val="tx1"/>
          </a:solidFill>
          <a:latin typeface="+mn-lt"/>
        </a:defRPr>
      </a:lvl7pPr>
      <a:lvl8pPr marL="7315566" indent="-711236" algn="l" defTabSz="2844942" rtl="0" eaLnBrk="0" fontAlgn="base" hangingPunct="0">
        <a:spcBef>
          <a:spcPct val="20000"/>
        </a:spcBef>
        <a:spcAft>
          <a:spcPct val="0"/>
        </a:spcAft>
        <a:buChar char="»"/>
        <a:defRPr sz="6200">
          <a:solidFill>
            <a:schemeClr val="tx1"/>
          </a:solidFill>
          <a:latin typeface="+mn-lt"/>
        </a:defRPr>
      </a:lvl8pPr>
      <a:lvl9pPr marL="7620381" indent="-711236" algn="l" defTabSz="2844942" rtl="0" eaLnBrk="0" fontAlgn="base" hangingPunct="0">
        <a:spcBef>
          <a:spcPct val="20000"/>
        </a:spcBef>
        <a:spcAft>
          <a:spcPct val="0"/>
        </a:spcAft>
        <a:buChar char="»"/>
        <a:defRPr sz="6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itshelenxu.github.io/files/papers/pcsr.pdf" TargetMode="External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8.png"/><Relationship Id="rId5" Type="http://schemas.openxmlformats.org/officeDocument/2006/relationships/image" Target="../media/image5.png"/><Relationship Id="rId10" Type="http://schemas.openxmlformats.org/officeDocument/2006/relationships/hyperlink" Target="http://yifanhu.net/PUB/graph_draw_small.pdf" TargetMode="External"/><Relationship Id="rId4" Type="http://schemas.openxmlformats.org/officeDocument/2006/relationships/image" Target="../media/image4.png"/><Relationship Id="rId9" Type="http://schemas.openxmlformats.org/officeDocument/2006/relationships/hyperlink" Target="https://networkrepository.com/bio-grid-human.ph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1482A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1">
            <a:extLst>
              <a:ext uri="{FF2B5EF4-FFF2-40B4-BE49-F238E27FC236}">
                <a16:creationId xmlns:a16="http://schemas.microsoft.com/office/drawing/2014/main" id="{8785E597-B0C8-4CA8-9A56-A0F3996D088D}"/>
              </a:ext>
            </a:extLst>
          </p:cNvPr>
          <p:cNvSpPr txBox="1"/>
          <p:nvPr/>
        </p:nvSpPr>
        <p:spPr>
          <a:xfrm>
            <a:off x="4267200" y="923679"/>
            <a:ext cx="24384000" cy="1831290"/>
          </a:xfrm>
          <a:prstGeom prst="rect">
            <a:avLst/>
          </a:prstGeom>
        </p:spPr>
        <p:txBody>
          <a:bodyPr lIns="85344" tIns="42672" rIns="85344" bIns="42672"/>
          <a:lstStyle>
            <a:defPPr>
              <a:defRPr kern="1200"/>
            </a:defPPr>
            <a:lvl1pPr algn="ctr" defTabSz="4389028" rtl="0" eaLnBrk="1" latinLnBrk="0" hangingPunct="1">
              <a:spcBef>
                <a:spcPct val="0"/>
              </a:spcBef>
              <a:buNone/>
              <a:defRPr sz="13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700" dirty="0" err="1">
                <a:solidFill>
                  <a:srgbClr val="235078"/>
                </a:solidFill>
                <a:latin typeface="Libre Baskerville" panose="02000000000000000000" pitchFamily="2" charset="0"/>
              </a:rPr>
              <a:t>NetSim</a:t>
            </a:r>
            <a:r>
              <a:rPr lang="en-US" sz="5700" dirty="0">
                <a:solidFill>
                  <a:srgbClr val="235078"/>
                </a:solidFill>
                <a:latin typeface="Libre Baskerville" panose="02000000000000000000" pitchFamily="2" charset="0"/>
              </a:rPr>
              <a:t> – </a:t>
            </a:r>
          </a:p>
          <a:p>
            <a:r>
              <a:rPr lang="en-US" sz="5700" dirty="0">
                <a:solidFill>
                  <a:srgbClr val="235078"/>
                </a:solidFill>
                <a:latin typeface="Libre Baskerville" panose="02000000000000000000" pitchFamily="2" charset="0"/>
              </a:rPr>
              <a:t>An Interactive Graph Visualization and Algorithm Simulator</a:t>
            </a:r>
          </a:p>
        </p:txBody>
      </p:sp>
      <p:sp>
        <p:nvSpPr>
          <p:cNvPr id="42" name="Text Placeholder 16">
            <a:extLst>
              <a:ext uri="{FF2B5EF4-FFF2-40B4-BE49-F238E27FC236}">
                <a16:creationId xmlns:a16="http://schemas.microsoft.com/office/drawing/2014/main" id="{EBC3B70E-A392-4069-A147-C1FCF37051AF}"/>
              </a:ext>
            </a:extLst>
          </p:cNvPr>
          <p:cNvSpPr txBox="1"/>
          <p:nvPr/>
        </p:nvSpPr>
        <p:spPr>
          <a:xfrm>
            <a:off x="4267200" y="3018671"/>
            <a:ext cx="24384000" cy="1338828"/>
          </a:xfrm>
          <a:prstGeom prst="rect">
            <a:avLst/>
          </a:prstGeom>
        </p:spPr>
        <p:txBody>
          <a:bodyPr lIns="85344" tIns="42672" rIns="85344" bIns="42672">
            <a:spAutoFit/>
          </a:bodyPr>
          <a:lstStyle>
            <a:defPPr>
              <a:defRPr kern="1200"/>
            </a:defPPr>
            <a:lvl1pPr marL="0" indent="0" algn="l" defTabSz="4389028" rtl="0" eaLnBrk="1" latinLnBrk="0" hangingPunct="1">
              <a:spcBef>
                <a:spcPct val="20000"/>
              </a:spcBef>
              <a:buFont typeface="Arial" pitchFamily="34" charset="0"/>
              <a:buNone/>
              <a:defRPr sz="13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66086" indent="-1371572" algn="l" defTabSz="438902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286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680800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875314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9828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342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458857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653371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700" dirty="0">
                <a:solidFill>
                  <a:srgbClr val="1482A5"/>
                </a:solidFill>
                <a:latin typeface="Montserrat Light" panose="00000400000000000000" pitchFamily="50" charset="0"/>
              </a:rPr>
              <a:t>Tyler Layton</a:t>
            </a:r>
          </a:p>
          <a:p>
            <a:pPr algn="ctr"/>
            <a:r>
              <a:rPr lang="en-US" sz="3700" dirty="0">
                <a:solidFill>
                  <a:srgbClr val="1482A5"/>
                </a:solidFill>
                <a:latin typeface="Montserrat Light" panose="00000400000000000000" pitchFamily="50" charset="0"/>
              </a:rPr>
              <a:t> Advised by Konstantin </a:t>
            </a:r>
            <a:r>
              <a:rPr lang="en-US" sz="3700" dirty="0" err="1">
                <a:solidFill>
                  <a:srgbClr val="1482A5"/>
                </a:solidFill>
                <a:latin typeface="Montserrat Light" panose="00000400000000000000" pitchFamily="50" charset="0"/>
              </a:rPr>
              <a:t>Zuzmin</a:t>
            </a:r>
            <a:endParaRPr lang="en-US" sz="3700" dirty="0">
              <a:solidFill>
                <a:srgbClr val="1482A5"/>
              </a:solidFill>
              <a:latin typeface="Montserrat Light" panose="00000400000000000000" pitchFamily="50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C718E78-BDD8-4BAD-851F-D423AE935B0D}"/>
              </a:ext>
            </a:extLst>
          </p:cNvPr>
          <p:cNvSpPr/>
          <p:nvPr/>
        </p:nvSpPr>
        <p:spPr>
          <a:xfrm>
            <a:off x="533400" y="4621201"/>
            <a:ext cx="7534787" cy="60882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6400" dirty="0">
              <a:latin typeface="+mj-lt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9C39BF6-8B9A-45D3-A730-4CDDF5EAA7F1}"/>
              </a:ext>
            </a:extLst>
          </p:cNvPr>
          <p:cNvSpPr/>
          <p:nvPr/>
        </p:nvSpPr>
        <p:spPr>
          <a:xfrm>
            <a:off x="16744609" y="4621201"/>
            <a:ext cx="7534787" cy="169781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640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E6D1C9C-2516-4738-BC80-673A19ECE5BD}"/>
              </a:ext>
            </a:extLst>
          </p:cNvPr>
          <p:cNvSpPr/>
          <p:nvPr/>
        </p:nvSpPr>
        <p:spPr>
          <a:xfrm>
            <a:off x="24850213" y="4658590"/>
            <a:ext cx="7534787" cy="51693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640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F25EFAD-7AAF-4CAF-BA69-869B3D423F7F}"/>
              </a:ext>
            </a:extLst>
          </p:cNvPr>
          <p:cNvSpPr/>
          <p:nvPr/>
        </p:nvSpPr>
        <p:spPr>
          <a:xfrm>
            <a:off x="518160" y="11236142"/>
            <a:ext cx="7534787" cy="103632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640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EC9A64B-144F-4668-B416-097C0312FF96}"/>
              </a:ext>
            </a:extLst>
          </p:cNvPr>
          <p:cNvSpPr/>
          <p:nvPr/>
        </p:nvSpPr>
        <p:spPr>
          <a:xfrm>
            <a:off x="8639004" y="11236140"/>
            <a:ext cx="7534787" cy="103632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640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F801B80-E24E-4773-AC4E-37DC17B0424E}"/>
              </a:ext>
            </a:extLst>
          </p:cNvPr>
          <p:cNvSpPr/>
          <p:nvPr/>
        </p:nvSpPr>
        <p:spPr>
          <a:xfrm>
            <a:off x="8639004" y="4621201"/>
            <a:ext cx="7534787" cy="60882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640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6D8A1CF-B987-4F36-8586-4BEDACCCAB04}"/>
              </a:ext>
            </a:extLst>
          </p:cNvPr>
          <p:cNvSpPr/>
          <p:nvPr/>
        </p:nvSpPr>
        <p:spPr>
          <a:xfrm>
            <a:off x="24850213" y="10263167"/>
            <a:ext cx="7534787" cy="65730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64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9BDD4D7-12C6-4DBA-AD93-2C88BC17BC8B}"/>
              </a:ext>
            </a:extLst>
          </p:cNvPr>
          <p:cNvSpPr txBox="1"/>
          <p:nvPr/>
        </p:nvSpPr>
        <p:spPr>
          <a:xfrm>
            <a:off x="704645" y="5477132"/>
            <a:ext cx="7192297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	Graph-structured data is fundamental to the world with applications ranging from </a:t>
            </a:r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social networks 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to </a:t>
            </a:r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biological pathways. 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Understanding the structural properties and visualizing these large networks is essential to our further exploration of them. </a:t>
            </a:r>
          </a:p>
          <a:p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	This research project presents an app which allows users to </a:t>
            </a:r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interact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and </a:t>
            </a:r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visualize graphs 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presenting a variety of different visual and search algorithms. Such visual algorithms include a force-directed layout as well as a node contraction algorithm as a means of graph simplification.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4864E4E-50A2-403F-84B8-E4F7E820612B}"/>
              </a:ext>
            </a:extLst>
          </p:cNvPr>
          <p:cNvSpPr txBox="1"/>
          <p:nvPr/>
        </p:nvSpPr>
        <p:spPr>
          <a:xfrm>
            <a:off x="704645" y="4800600"/>
            <a:ext cx="71922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3200" dirty="0">
                <a:solidFill>
                  <a:srgbClr val="235078"/>
                </a:solidFill>
                <a:latin typeface="Libre Baskerville" panose="02000000000000000000" pitchFamily="2" charset="0"/>
              </a:rPr>
              <a:t>Introduction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2418A42-DDE0-497E-98DF-5F9BFF98DA6B}"/>
              </a:ext>
            </a:extLst>
          </p:cNvPr>
          <p:cNvSpPr/>
          <p:nvPr/>
        </p:nvSpPr>
        <p:spPr>
          <a:xfrm>
            <a:off x="24850213" y="17373600"/>
            <a:ext cx="7534787" cy="4225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640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92CC346-56CD-4384-BB14-A915BC781C78}"/>
              </a:ext>
            </a:extLst>
          </p:cNvPr>
          <p:cNvSpPr txBox="1"/>
          <p:nvPr/>
        </p:nvSpPr>
        <p:spPr>
          <a:xfrm>
            <a:off x="25055051" y="17838355"/>
            <a:ext cx="71922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3200" dirty="0">
                <a:solidFill>
                  <a:srgbClr val="235078"/>
                </a:solidFill>
                <a:latin typeface="Libre Baskerville" panose="02000000000000000000" pitchFamily="2" charset="0"/>
              </a:rPr>
              <a:t>References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07EEF88-ACF9-4467-B180-074FC642245A}"/>
              </a:ext>
            </a:extLst>
          </p:cNvPr>
          <p:cNvSpPr txBox="1"/>
          <p:nvPr/>
        </p:nvSpPr>
        <p:spPr>
          <a:xfrm>
            <a:off x="25026375" y="4862154"/>
            <a:ext cx="71922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3200" dirty="0">
                <a:solidFill>
                  <a:srgbClr val="235078"/>
                </a:solidFill>
                <a:latin typeface="Libre Baskerville" panose="02000000000000000000" pitchFamily="2" charset="0"/>
              </a:rPr>
              <a:t>Conclusion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6E6C31F-098B-45F7-BEE5-8A51FA70D59F}"/>
              </a:ext>
            </a:extLst>
          </p:cNvPr>
          <p:cNvSpPr txBox="1"/>
          <p:nvPr/>
        </p:nvSpPr>
        <p:spPr>
          <a:xfrm>
            <a:off x="25004042" y="10388025"/>
            <a:ext cx="71922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3200" dirty="0">
                <a:solidFill>
                  <a:srgbClr val="235078"/>
                </a:solidFill>
                <a:latin typeface="Libre Baskerville" panose="02000000000000000000" pitchFamily="2" charset="0"/>
              </a:rPr>
              <a:t>Future Work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2D5F59B-F8CA-463C-871F-D1042309DE00}"/>
              </a:ext>
            </a:extLst>
          </p:cNvPr>
          <p:cNvSpPr txBox="1"/>
          <p:nvPr/>
        </p:nvSpPr>
        <p:spPr>
          <a:xfrm>
            <a:off x="609600" y="11419443"/>
            <a:ext cx="71922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3200" dirty="0">
                <a:solidFill>
                  <a:srgbClr val="235078"/>
                </a:solidFill>
                <a:latin typeface="Libre Baskerville" panose="02000000000000000000" pitchFamily="2" charset="0"/>
              </a:rPr>
              <a:t>Backend Representation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8744D3E-CEF9-4748-9719-25AAABF27BDD}"/>
              </a:ext>
            </a:extLst>
          </p:cNvPr>
          <p:cNvSpPr txBox="1"/>
          <p:nvPr/>
        </p:nvSpPr>
        <p:spPr>
          <a:xfrm>
            <a:off x="8802630" y="4795346"/>
            <a:ext cx="71922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3200" dirty="0">
                <a:solidFill>
                  <a:srgbClr val="235078"/>
                </a:solidFill>
                <a:latin typeface="Libre Baskerville" panose="02000000000000000000" pitchFamily="2" charset="0"/>
              </a:rPr>
              <a:t>Existing work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16F17B6-B5C7-4922-B9E2-CD14BD16A568}"/>
              </a:ext>
            </a:extLst>
          </p:cNvPr>
          <p:cNvSpPr txBox="1"/>
          <p:nvPr/>
        </p:nvSpPr>
        <p:spPr>
          <a:xfrm>
            <a:off x="8810249" y="11395419"/>
            <a:ext cx="7363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3200" dirty="0">
                <a:solidFill>
                  <a:srgbClr val="235078"/>
                </a:solidFill>
                <a:latin typeface="Libre Baskerville" panose="02000000000000000000" pitchFamily="2" charset="0"/>
              </a:rPr>
              <a:t>Analysis of Packed Memory Array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7A0BB3C-427E-42CA-963C-DA612C8F2B9C}"/>
              </a:ext>
            </a:extLst>
          </p:cNvPr>
          <p:cNvSpPr txBox="1"/>
          <p:nvPr/>
        </p:nvSpPr>
        <p:spPr>
          <a:xfrm>
            <a:off x="16915853" y="4821063"/>
            <a:ext cx="71922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3200" dirty="0">
                <a:solidFill>
                  <a:srgbClr val="235078"/>
                </a:solidFill>
                <a:latin typeface="Libre Baskerville" panose="02000000000000000000" pitchFamily="2" charset="0"/>
              </a:rPr>
              <a:t>Visualization Algorithms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50FDB7-7785-6688-1FB2-96A8DB09CF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42956" y="126101"/>
            <a:ext cx="3970800" cy="37349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D86EBD-8CCF-FD48-8DA2-A4165726462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564137"/>
            <a:ext cx="3110098" cy="311009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199EF30-5A5F-DDF8-72DB-AFC853231AB7}"/>
              </a:ext>
            </a:extLst>
          </p:cNvPr>
          <p:cNvSpPr txBox="1"/>
          <p:nvPr/>
        </p:nvSpPr>
        <p:spPr>
          <a:xfrm>
            <a:off x="8844662" y="5477131"/>
            <a:ext cx="7192297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Gephi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is widely used for graph analysis offering a wide variety of visual statistics.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GraphViz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focuses on graphing layouts with a scripting interface but lacks a user interface. </a:t>
            </a:r>
          </a:p>
          <a:p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	</a:t>
            </a:r>
            <a:r>
              <a:rPr lang="en-US" sz="2400" b="1" dirty="0" err="1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NetSim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draws inspiration from these tools targeting an interactive and accessible experience for the user. A couple of </a:t>
            </a:r>
            <a:r>
              <a:rPr lang="en-US" sz="2400" b="1" dirty="0" err="1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NetSim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features include: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Representation table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which shows the nodes and edges which are in a graph.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Algorithm panel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where the user can select algorithms to run on the graph </a:t>
            </a:r>
            <a:endParaRPr lang="en-US" sz="2400" b="1" dirty="0">
              <a:solidFill>
                <a:schemeClr val="bg2">
                  <a:lumMod val="25000"/>
                </a:schemeClr>
              </a:solidFill>
              <a:latin typeface="Libre Baskerville" panose="020000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0AC62B-AB61-5C3F-4995-42D36A720B30}"/>
              </a:ext>
            </a:extLst>
          </p:cNvPr>
          <p:cNvSpPr txBox="1"/>
          <p:nvPr/>
        </p:nvSpPr>
        <p:spPr>
          <a:xfrm>
            <a:off x="697025" y="11982087"/>
            <a:ext cx="7192297" cy="9694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	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</a:rPr>
              <a:t>There are several common ways to represent a graph in code.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</a:rPr>
              <a:t>Adjacency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</a:rPr>
              <a:t> </a:t>
            </a:r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</a:rPr>
              <a:t>matrix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</a:rPr>
              <a:t> – edges in a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</a:rPr>
              <a:t>NxN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</a:rPr>
              <a:t> Boolean grid. Simple to query but fails with large graphs.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</a:rPr>
              <a:t>Adjacency list 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</a:rPr>
              <a:t>–</a:t>
            </a:r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</a:rPr>
              <a:t> 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</a:rPr>
              <a:t>storing only existing edges per node but has a slow edge look up.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Packed Memory Array 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(PMA) 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</a:rPr>
              <a:t>–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single block of memory which holds all edge information. Best solution for large graphs.</a:t>
            </a:r>
          </a:p>
          <a:p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	The backend consists of </a:t>
            </a:r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2 lists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, one holding nodes and the other holding edges. Each node can be found based on its index/ID and holds 2 integers: an </a:t>
            </a:r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edge index 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pointing to the start of its edges in the edge list and a </a:t>
            </a:r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degree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indicating how many edges it has. Edges are simply 1 integer which holds its destination node’s ID and a label. Edges are sorted which allows for a </a:t>
            </a:r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binary look-up (O(log deg)). 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Each node is also allocated </a:t>
            </a:r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additional space 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within the edge array allowing room for new edges to be added without having to restructure the array on every edge addition.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365800-FA73-77CE-5F9A-923BA7C72391}"/>
              </a:ext>
            </a:extLst>
          </p:cNvPr>
          <p:cNvSpPr txBox="1"/>
          <p:nvPr/>
        </p:nvSpPr>
        <p:spPr>
          <a:xfrm>
            <a:off x="8747542" y="12041664"/>
            <a:ext cx="71922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	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03B0747B-3A71-32DA-2383-E9FE4FBC7E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7556569"/>
              </p:ext>
            </p:extLst>
          </p:nvPr>
        </p:nvGraphicFramePr>
        <p:xfrm>
          <a:off x="8755980" y="12039600"/>
          <a:ext cx="7300836" cy="5640352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1825209">
                  <a:extLst>
                    <a:ext uri="{9D8B030D-6E8A-4147-A177-3AD203B41FA5}">
                      <a16:colId xmlns:a16="http://schemas.microsoft.com/office/drawing/2014/main" val="2279374263"/>
                    </a:ext>
                  </a:extLst>
                </a:gridCol>
                <a:gridCol w="1825209">
                  <a:extLst>
                    <a:ext uri="{9D8B030D-6E8A-4147-A177-3AD203B41FA5}">
                      <a16:colId xmlns:a16="http://schemas.microsoft.com/office/drawing/2014/main" val="2344400314"/>
                    </a:ext>
                  </a:extLst>
                </a:gridCol>
                <a:gridCol w="1825209">
                  <a:extLst>
                    <a:ext uri="{9D8B030D-6E8A-4147-A177-3AD203B41FA5}">
                      <a16:colId xmlns:a16="http://schemas.microsoft.com/office/drawing/2014/main" val="1915494831"/>
                    </a:ext>
                  </a:extLst>
                </a:gridCol>
                <a:gridCol w="1825209">
                  <a:extLst>
                    <a:ext uri="{9D8B030D-6E8A-4147-A177-3AD203B41FA5}">
                      <a16:colId xmlns:a16="http://schemas.microsoft.com/office/drawing/2014/main" val="670462783"/>
                    </a:ext>
                  </a:extLst>
                </a:gridCol>
              </a:tblGrid>
              <a:tr h="801092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Libre Baskerville" panose="02000000000000000000" pitchFamily="2" charset="0"/>
                        </a:rPr>
                        <a:t>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Libre Baskerville" panose="02000000000000000000" pitchFamily="2" charset="0"/>
                        </a:rPr>
                        <a:t>Adj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Libre Baskerville" panose="02000000000000000000" pitchFamily="2" charset="0"/>
                        </a:rPr>
                        <a:t>Matrix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Libre Baskerville" panose="02000000000000000000" pitchFamily="2" charset="0"/>
                        </a:rPr>
                        <a:t>Adj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Libre Baskerville" panose="02000000000000000000" pitchFamily="2" charset="0"/>
                        </a:rPr>
                        <a:t>List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Libre Baskerville" panose="02000000000000000000" pitchFamily="2" charset="0"/>
                        </a:rPr>
                        <a:t>PMA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5434285"/>
                  </a:ext>
                </a:extLst>
              </a:tr>
              <a:tr h="67856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Libre Baskerville" panose="02000000000000000000" pitchFamily="2" charset="0"/>
                        </a:rPr>
                        <a:t>Edge Insert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Libre Baskerville" panose="02000000000000000000" pitchFamily="2" charset="0"/>
                        </a:rPr>
                        <a:t>O(1)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Libre Baskerville" panose="02000000000000000000" pitchFamily="2" charset="0"/>
                        </a:rPr>
                        <a:t>O(1)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Libre Baskerville" panose="02000000000000000000" pitchFamily="2" charset="0"/>
                        </a:rPr>
                        <a:t>O(log</a:t>
                      </a:r>
                      <a:r>
                        <a:rPr lang="en-US" sz="20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Libre Baskerville" panose="02000000000000000000" pitchFamily="2" charset="0"/>
                        </a:rPr>
                        <a:t>²(V+E)</a:t>
                      </a:r>
                      <a:endParaRPr lang="en-US" sz="2000" dirty="0">
                        <a:solidFill>
                          <a:schemeClr val="bg2">
                            <a:lumMod val="25000"/>
                          </a:schemeClr>
                        </a:solidFill>
                        <a:latin typeface="Libre Baskerville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9872472"/>
                  </a:ext>
                </a:extLst>
              </a:tr>
              <a:tr h="67856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Libre Baskerville" panose="02000000000000000000" pitchFamily="2" charset="0"/>
                        </a:rPr>
                        <a:t>Edge Delete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Libre Baskerville" panose="02000000000000000000" pitchFamily="2" charset="0"/>
                        </a:rPr>
                        <a:t>O(1)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Libre Baskerville" panose="02000000000000000000" pitchFamily="2" charset="0"/>
                        </a:rPr>
                        <a:t>O(V)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Libre Baskerville" panose="02000000000000000000" pitchFamily="2" charset="0"/>
                        </a:rPr>
                        <a:t>O(log</a:t>
                      </a:r>
                      <a:r>
                        <a:rPr lang="en-US" sz="20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Libre Baskerville" panose="02000000000000000000" pitchFamily="2" charset="0"/>
                        </a:rPr>
                        <a:t>²(V+E)</a:t>
                      </a:r>
                      <a:endParaRPr lang="en-US" sz="2000" dirty="0">
                        <a:solidFill>
                          <a:schemeClr val="bg2">
                            <a:lumMod val="25000"/>
                          </a:schemeClr>
                        </a:solidFill>
                        <a:latin typeface="Libre Baskerville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4088728"/>
                  </a:ext>
                </a:extLst>
              </a:tr>
              <a:tr h="68241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Libre Baskerville" panose="02000000000000000000" pitchFamily="2" charset="0"/>
                        </a:rPr>
                        <a:t>Edge Lookup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Libre Baskerville" panose="02000000000000000000" pitchFamily="2" charset="0"/>
                        </a:rPr>
                        <a:t>O(1)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Libre Baskerville" panose="02000000000000000000" pitchFamily="2" charset="0"/>
                        </a:rPr>
                        <a:t>O(deg)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Libre Baskerville" panose="02000000000000000000" pitchFamily="2" charset="0"/>
                        </a:rPr>
                        <a:t>O(log deg)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3526827"/>
                  </a:ext>
                </a:extLst>
              </a:tr>
              <a:tr h="67856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Libre Baskerville" panose="02000000000000000000" pitchFamily="2" charset="0"/>
                        </a:rPr>
                        <a:t>Node insert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Libre Baskerville" panose="02000000000000000000" pitchFamily="2" charset="0"/>
                        </a:rPr>
                        <a:t>O(</a:t>
                      </a:r>
                      <a:r>
                        <a:rPr lang="en-US" sz="20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Libre Baskerville" panose="02000000000000000000" pitchFamily="2" charset="0"/>
                        </a:rPr>
                        <a:t>V²)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Libre Baskerville" panose="02000000000000000000" pitchFamily="2" charset="0"/>
                        </a:rPr>
                        <a:t>O(1)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Libre Baskerville" panose="02000000000000000000" pitchFamily="2" charset="0"/>
                        </a:rPr>
                        <a:t>O(log</a:t>
                      </a:r>
                      <a:r>
                        <a:rPr lang="en-US" sz="20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Libre Baskerville" panose="02000000000000000000" pitchFamily="2" charset="0"/>
                        </a:rPr>
                        <a:t>²(V+E)</a:t>
                      </a:r>
                      <a:endParaRPr lang="en-US" sz="2000" dirty="0">
                        <a:solidFill>
                          <a:schemeClr val="bg2">
                            <a:lumMod val="25000"/>
                          </a:schemeClr>
                        </a:solidFill>
                        <a:latin typeface="Libre Baskerville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1783347"/>
                  </a:ext>
                </a:extLst>
              </a:tr>
              <a:tr h="67856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Libre Baskerville" panose="02000000000000000000" pitchFamily="2" charset="0"/>
                        </a:rPr>
                        <a:t>Node Delete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Libre Baskerville" panose="02000000000000000000" pitchFamily="2" charset="0"/>
                        </a:rPr>
                        <a:t>O(</a:t>
                      </a:r>
                      <a:r>
                        <a:rPr lang="en-US" sz="20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Libre Baskerville" panose="02000000000000000000" pitchFamily="2" charset="0"/>
                        </a:rPr>
                        <a:t>V²)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Libre Baskerville" panose="02000000000000000000" pitchFamily="2" charset="0"/>
                        </a:rPr>
                        <a:t>O(V+E)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Libre Baskerville" panose="02000000000000000000" pitchFamily="2" charset="0"/>
                        </a:rPr>
                        <a:t>O(log</a:t>
                      </a:r>
                      <a:r>
                        <a:rPr lang="en-US" sz="20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Libre Baskerville" panose="02000000000000000000" pitchFamily="2" charset="0"/>
                        </a:rPr>
                        <a:t>²(V+E)</a:t>
                      </a:r>
                      <a:endParaRPr lang="en-US" sz="2000" dirty="0">
                        <a:solidFill>
                          <a:schemeClr val="bg2">
                            <a:lumMod val="25000"/>
                          </a:schemeClr>
                        </a:solidFill>
                        <a:latin typeface="Libre Baskerville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2443402"/>
                  </a:ext>
                </a:extLst>
              </a:tr>
              <a:tr h="68241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Libre Baskerville" panose="02000000000000000000" pitchFamily="2" charset="0"/>
                        </a:rPr>
                        <a:t>Node Lookup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Libre Baskerville" panose="02000000000000000000" pitchFamily="2" charset="0"/>
                        </a:rPr>
                        <a:t>O(1)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Libre Baskerville" panose="02000000000000000000" pitchFamily="2" charset="0"/>
                        </a:rPr>
                        <a:t>O(1)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Libre Baskerville" panose="02000000000000000000" pitchFamily="2" charset="0"/>
                        </a:rPr>
                        <a:t>O(1)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4437838"/>
                  </a:ext>
                </a:extLst>
              </a:tr>
              <a:tr h="68241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Libre Baskerville" panose="02000000000000000000" pitchFamily="2" charset="0"/>
                        </a:rPr>
                        <a:t>Memory Usage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Libre Baskerville" panose="02000000000000000000" pitchFamily="2" charset="0"/>
                        </a:rPr>
                        <a:t>O(</a:t>
                      </a:r>
                      <a:r>
                        <a:rPr lang="en-US" sz="20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Libre Baskerville" panose="02000000000000000000" pitchFamily="2" charset="0"/>
                        </a:rPr>
                        <a:t>V²)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Libre Baskerville" panose="02000000000000000000" pitchFamily="2" charset="0"/>
                        </a:rPr>
                        <a:t>O(V+E)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Libre Baskerville" panose="02000000000000000000" pitchFamily="2" charset="0"/>
                        </a:rPr>
                        <a:t>O(V+8E)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1484575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4D520D9A-D431-A12B-B0EF-6DC3B39B2060}"/>
              </a:ext>
            </a:extLst>
          </p:cNvPr>
          <p:cNvSpPr txBox="1"/>
          <p:nvPr/>
        </p:nvSpPr>
        <p:spPr>
          <a:xfrm>
            <a:off x="8760989" y="17838355"/>
            <a:ext cx="74262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2000" b="1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Figure 1: 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Complexity comparisons between Adjacency matrix, Adjacency List, and PMA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E96767-013C-4A23-3983-1BC25185101D}"/>
              </a:ext>
            </a:extLst>
          </p:cNvPr>
          <p:cNvSpPr txBox="1"/>
          <p:nvPr/>
        </p:nvSpPr>
        <p:spPr>
          <a:xfrm>
            <a:off x="8727686" y="20878800"/>
            <a:ext cx="74262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2000" b="1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Figure 2: 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Visual representation of the backend using PMA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C269DC-A76A-BB21-B000-D7F4DEC23497}"/>
              </a:ext>
            </a:extLst>
          </p:cNvPr>
          <p:cNvSpPr txBox="1"/>
          <p:nvPr/>
        </p:nvSpPr>
        <p:spPr>
          <a:xfrm>
            <a:off x="24993600" y="11017862"/>
            <a:ext cx="7192297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	</a:t>
            </a:r>
            <a:r>
              <a:rPr lang="en-US" sz="2400" b="1" dirty="0" err="1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NetSim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only scratches the surface of what a graph visualization and algorithm simulator can offer. Many additional features can be added to enhance user experience:</a:t>
            </a:r>
          </a:p>
          <a:p>
            <a:pPr marL="669432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A </a:t>
            </a:r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scripting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interface so users can write and run their own algorithms </a:t>
            </a:r>
          </a:p>
          <a:p>
            <a:pPr marL="669432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Ability to </a:t>
            </a:r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save graphs 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and </a:t>
            </a:r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algorithm configurations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as a </a:t>
            </a:r>
            <a:r>
              <a:rPr lang="en-US" sz="2400" b="1" dirty="0" err="1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NetSim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executable allowing work to be </a:t>
            </a:r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resumed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</a:p>
          <a:p>
            <a:pPr marL="669432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Further performance </a:t>
            </a:r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optimization</a:t>
            </a:r>
          </a:p>
          <a:p>
            <a:pPr marL="669432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Additional visualization algorithms to help reduce graph objects</a:t>
            </a:r>
          </a:p>
          <a:p>
            <a:pPr marL="669432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Visual paths 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shown for the search algorithms </a:t>
            </a:r>
          </a:p>
          <a:p>
            <a:pPr marL="669432" lvl="1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2">
                  <a:lumMod val="25000"/>
                </a:schemeClr>
              </a:solidFill>
              <a:latin typeface="Libre Baskerville" panose="020000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A13806-1540-01E7-40DE-75A35DCD6735}"/>
              </a:ext>
            </a:extLst>
          </p:cNvPr>
          <p:cNvSpPr txBox="1"/>
          <p:nvPr/>
        </p:nvSpPr>
        <p:spPr>
          <a:xfrm>
            <a:off x="16915852" y="5489292"/>
            <a:ext cx="719229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	A large issue with graph visualization is </a:t>
            </a:r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scalability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. Rendering thousands of nodes and edge simultaneously becomes slow and difficult to interpret. </a:t>
            </a:r>
            <a:r>
              <a:rPr lang="en-US" sz="2400" b="1" dirty="0" err="1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NetSim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addresses this issue through </a:t>
            </a:r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node contraction 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which reduces rendered objects while still </a:t>
            </a:r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preserving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the underlying graph structure. 	One contraction algorithm in </a:t>
            </a:r>
            <a:r>
              <a:rPr lang="en-US" sz="2400" b="1" dirty="0" err="1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NetSim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selects the </a:t>
            </a:r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top X%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of nodes by degree contracting </a:t>
            </a:r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Y hops 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outward from these nodes shown in </a:t>
            </a:r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Figure 3.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FD22CC-D988-3686-2B05-A6805501E0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26586" y="9727730"/>
            <a:ext cx="3182956" cy="3046821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92196A7-A41B-0E5C-99AB-C341A445D1A8}"/>
              </a:ext>
            </a:extLst>
          </p:cNvPr>
          <p:cNvCxnSpPr>
            <a:cxnSpLocks/>
            <a:stCxn id="6" idx="3"/>
            <a:endCxn id="21" idx="1"/>
          </p:cNvCxnSpPr>
          <p:nvPr/>
        </p:nvCxnSpPr>
        <p:spPr bwMode="auto">
          <a:xfrm>
            <a:off x="20009542" y="11251141"/>
            <a:ext cx="988992" cy="233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A1DAE246-E4AA-8409-0580-01D4F34A45E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488"/>
          <a:stretch>
            <a:fillRect/>
          </a:stretch>
        </p:blipFill>
        <p:spPr>
          <a:xfrm>
            <a:off x="20998534" y="9732394"/>
            <a:ext cx="3125808" cy="304215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A414D88-853D-A1F4-DCDD-C5DD11A6CD45}"/>
              </a:ext>
            </a:extLst>
          </p:cNvPr>
          <p:cNvSpPr txBox="1"/>
          <p:nvPr/>
        </p:nvSpPr>
        <p:spPr>
          <a:xfrm>
            <a:off x="16907712" y="12900716"/>
            <a:ext cx="74262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2000" b="1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Figure 3: 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(Right) – |V| = </a:t>
            </a:r>
            <a:r>
              <a:rPr lang="en-US" sz="2000" b="1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9.5k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, |E| = </a:t>
            </a:r>
            <a:r>
              <a:rPr lang="en-US" sz="2000" b="1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32k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(spiral format)</a:t>
            </a:r>
          </a:p>
          <a:p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(Left) – |V| = </a:t>
            </a:r>
            <a:r>
              <a:rPr lang="en-US" sz="2000" b="1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850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, |E| = </a:t>
            </a:r>
            <a:r>
              <a:rPr lang="en-US" sz="2000" b="1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800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(top 30% of nodes contracted to 1 hop, spiral format)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8D7CF0-3177-17CF-5FE8-3A297670B3E4}"/>
              </a:ext>
            </a:extLst>
          </p:cNvPr>
          <p:cNvSpPr txBox="1"/>
          <p:nvPr/>
        </p:nvSpPr>
        <p:spPr>
          <a:xfrm>
            <a:off x="16911263" y="13966168"/>
            <a:ext cx="7192297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	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</a:rPr>
              <a:t> Another challenge is determining where to </a:t>
            </a:r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</a:rPr>
              <a:t>place nodes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</a:rPr>
              <a:t>. Simple layouts such as circular or spiral arrange nodes without any awareness of graph structure. The Scalable Force-Directed Placement </a:t>
            </a:r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</a:rPr>
              <a:t>(SFDP) 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</a:rPr>
              <a:t>algorithm solves this by simulating physical forces, connected nodes </a:t>
            </a:r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</a:rPr>
              <a:t>attract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</a:rPr>
              <a:t> while unconnected nodes </a:t>
            </a:r>
          </a:p>
          <a:p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</a:rPr>
              <a:t>repel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</a:rPr>
              <a:t>. After many </a:t>
            </a:r>
          </a:p>
          <a:p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</a:rPr>
              <a:t>iterations, the graph </a:t>
            </a:r>
          </a:p>
          <a:p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</a:rPr>
              <a:t>reaches a state of </a:t>
            </a:r>
          </a:p>
          <a:p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</a:rPr>
              <a:t>equilibrium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</a:rPr>
              <a:t>, naturally </a:t>
            </a:r>
          </a:p>
          <a:p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</a:rPr>
              <a:t>clustering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</a:rPr>
              <a:t> related </a:t>
            </a:r>
          </a:p>
          <a:p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</a:rPr>
              <a:t>nodes together and </a:t>
            </a:r>
          </a:p>
          <a:p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</a:rPr>
              <a:t>making the graph’s </a:t>
            </a:r>
          </a:p>
          <a:p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</a:rPr>
              <a:t>structure visually</a:t>
            </a:r>
          </a:p>
          <a:p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</a:rPr>
              <a:t>apparent. </a:t>
            </a:r>
            <a:endParaRPr lang="en-US" sz="2400" dirty="0">
              <a:solidFill>
                <a:schemeClr val="bg2">
                  <a:lumMod val="25000"/>
                </a:schemeClr>
              </a:solidFill>
              <a:latin typeface="Libre Baskerville" panose="020000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794632F2-BC0D-130B-921E-7EAC964EAF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577203" y="16687800"/>
            <a:ext cx="3654397" cy="3624294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27592291-957F-F5DB-69CC-B5F2489670CA}"/>
              </a:ext>
            </a:extLst>
          </p:cNvPr>
          <p:cNvSpPr txBox="1"/>
          <p:nvPr/>
        </p:nvSpPr>
        <p:spPr>
          <a:xfrm>
            <a:off x="16907711" y="20475714"/>
            <a:ext cx="74262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2000" b="1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Figure 4: 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The contracted graph from figure 3 after running the SFDP algorithm for 100 iterations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D1D680-486C-7CFF-A076-78D2C1C2D12C}"/>
              </a:ext>
            </a:extLst>
          </p:cNvPr>
          <p:cNvSpPr txBox="1"/>
          <p:nvPr/>
        </p:nvSpPr>
        <p:spPr>
          <a:xfrm>
            <a:off x="25055051" y="18898969"/>
            <a:ext cx="719229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https://itshelenxu.github.io/files/papers/pcsr.pdf</a:t>
            </a:r>
            <a:endParaRPr lang="en-US" sz="2000" dirty="0">
              <a:solidFill>
                <a:schemeClr val="bg2">
                  <a:lumMod val="25000"/>
                </a:schemeClr>
              </a:solidFill>
              <a:latin typeface="Libre Baskerville" panose="020000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https://networkrepository.com/bio-grid-human.php</a:t>
            </a:r>
            <a:endParaRPr lang="en-US" sz="2000" dirty="0">
              <a:solidFill>
                <a:schemeClr val="bg2">
                  <a:lumMod val="25000"/>
                </a:schemeClr>
              </a:solidFill>
              <a:latin typeface="Libre Baskerville" panose="020000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http://yifanhu.net/PUB/graph_draw_small.pdf</a:t>
            </a:r>
            <a:endParaRPr lang="en-US" sz="2000" dirty="0">
              <a:solidFill>
                <a:schemeClr val="bg2">
                  <a:lumMod val="25000"/>
                </a:schemeClr>
              </a:solidFill>
              <a:latin typeface="Libre Baskerville" panose="020000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https://juliagraphs.org/NetworkLayout.jl/stable/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9F77BCA-F4C5-4202-D757-7017B3F265C7}"/>
              </a:ext>
            </a:extLst>
          </p:cNvPr>
          <p:cNvSpPr txBox="1"/>
          <p:nvPr/>
        </p:nvSpPr>
        <p:spPr>
          <a:xfrm>
            <a:off x="25047782" y="5446929"/>
            <a:ext cx="719229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</a:rPr>
              <a:t>	</a:t>
            </a:r>
            <a:r>
              <a:rPr lang="en-US" sz="2400" b="1" dirty="0" err="1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</a:rPr>
              <a:t>NetSim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</a:rPr>
              <a:t> shows that interactive graph visualization can be made both through </a:t>
            </a:r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</a:rPr>
              <a:t>efficient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</a:rPr>
              <a:t> graph storage and graph </a:t>
            </a:r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</a:rPr>
              <a:t>simplification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</a:rPr>
              <a:t>. A </a:t>
            </a:r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</a:rPr>
              <a:t>packed memory array 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</a:rPr>
              <a:t>keeps memory low with fast look-up times, while </a:t>
            </a:r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</a:rPr>
              <a:t>node contraction 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</a:rPr>
              <a:t>and </a:t>
            </a:r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</a:rPr>
              <a:t>force-directed layout 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</a:rPr>
              <a:t>make large graphs </a:t>
            </a:r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</a:rPr>
              <a:t>navigable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</a:rPr>
              <a:t> and </a:t>
            </a:r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</a:rPr>
              <a:t>easy to interpret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</a:rPr>
              <a:t>. Though there is room for further expansion, </a:t>
            </a:r>
            <a:r>
              <a:rPr lang="en-US" sz="2400" b="1" dirty="0" err="1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</a:rPr>
              <a:t>NetSim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Libre Baskerville" panose="02000000000000000000" pitchFamily="2" charset="0"/>
              </a:rPr>
              <a:t> provides a solid foundation for future research into interactive graph analysis.</a:t>
            </a:r>
            <a:endParaRPr lang="en-US" sz="2400" dirty="0">
              <a:solidFill>
                <a:schemeClr val="bg2">
                  <a:lumMod val="25000"/>
                </a:schemeClr>
              </a:solidFill>
              <a:latin typeface="Libre Baskerville" panose="020000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D46EB5B-D249-4E04-230E-426C47398A4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7543800" y="10245165"/>
            <a:ext cx="5201376" cy="247684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EFDE619-6995-F4A7-B292-857C0AD2CAD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28399" y="18562291"/>
            <a:ext cx="6030581" cy="2316509"/>
          </a:xfrm>
          <a:prstGeom prst="rect">
            <a:avLst/>
          </a:prstGeom>
        </p:spPr>
      </p:pic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22.04.14"/>
  <p:tag name="AS_TITLE" val="Aspose.Slides for .NET 4.0 Client Profile"/>
  <p:tag name="AS_VERSION" val="22.4"/>
  <p:tag name="POSTERNERDTEMPLATE" val="persuadingsapphire|08-2022"/>
</p:tagLst>
</file>

<file path=ppt/theme/theme1.xml><?xml version="1.0" encoding="utf-8"?>
<a:theme xmlns:a="http://schemas.openxmlformats.org/drawingml/2006/main" name="Blank Presentation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Blank Presentation">
      <a:majorFont>
        <a:latin typeface="Times New Roman"/>
        <a:ea typeface="Arial"/>
        <a:cs typeface="Arial"/>
      </a:majorFont>
      <a:minorFont>
        <a:latin typeface="Times New Roman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Office\Templates\Blank Presentation.pot</Template>
  <TotalTime>4418</TotalTime>
  <Words>942</Words>
  <Application>Microsoft Office PowerPoint</Application>
  <PresentationFormat>Custom</PresentationFormat>
  <Paragraphs>87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Libre Baskerville</vt:lpstr>
      <vt:lpstr>Times New Roman</vt:lpstr>
      <vt:lpstr>Montserrat Light</vt:lpstr>
      <vt:lpstr>Blank Presentation</vt:lpstr>
      <vt:lpstr>PowerPoint Presentation</vt:lpstr>
    </vt:vector>
  </TitlesOfParts>
  <Company>Graphicsland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Example to make a scientific poster</dc:title>
  <dc:subject>Free Poster Presentation Example</dc:subject>
  <dc:creator>Graphicsland/MakeSigns.com</dc:creator>
  <cp:keywords>scientific, research, template, custom, poster, presentation, symposium, printing, PowerPoint, create, design, example, sample, download</cp:keywords>
  <dc:description>This is a free template from MakeSigns.com to help you create the perfect scientific poster.</dc:description>
  <cp:lastModifiedBy>Layton, Tyler John</cp:lastModifiedBy>
  <cp:revision>317</cp:revision>
  <cp:lastPrinted>2006-11-15T16:04:57Z</cp:lastPrinted>
  <dcterms:modified xsi:type="dcterms:W3CDTF">2026-04-29T21:17:22Z</dcterms:modified>
  <cp:category>templates for scientific poster</cp:category>
</cp:coreProperties>
</file>